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3" r:id="rId5"/>
    <p:sldId id="267" r:id="rId6"/>
    <p:sldId id="262" r:id="rId7"/>
    <p:sldId id="261" r:id="rId8"/>
    <p:sldId id="258" r:id="rId9"/>
    <p:sldId id="260" r:id="rId10"/>
    <p:sldId id="272" r:id="rId11"/>
    <p:sldId id="259" r:id="rId12"/>
    <p:sldId id="264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162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42110-3C7E-DA17-76BB-6BC09389D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24E6AB-CEF0-63BD-2DAF-0C884B35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6308AC-99AE-707C-950F-85D910B3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8783B-835B-5EC5-F20D-BEDEABC5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6628DA-33E3-1D92-06C6-AFC7455E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90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9A9A7-7E4E-DAD1-0342-74019BC8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3EC41B-15C3-DD56-2F98-CDEBD7678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0B246D-C290-9538-E921-1266B983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089339-3091-8AFA-21B2-B3A6C50D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ED743-CC9D-D9A6-036C-37337C0D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39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154FAE-06D0-79E8-5C75-483E92E4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A522CD-8615-365A-5370-340B46205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5E2CD6-B508-A874-6A47-7D0B25C7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FBCB25-D6D7-75CA-861E-008C0C47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FBDDC0-185E-91C9-BAB7-97D0EE4A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406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18EA51-B354-EE01-5539-3085A2A5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100CAA-350C-DCC2-79B5-DDE9BFF9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FDAB85-3F25-296A-0A79-617C9563E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3E32E7-5FD5-727C-DEC2-A3876D78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3968A2-4BD4-1DDD-B3AA-7F4A4C44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CBC95F-3DCF-F043-0614-8BBC387C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88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3C75C-6F2E-A859-AFE7-C4450626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E036E3-FB73-F5A1-F6AC-9BC9579BC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1A1992-AA38-8B59-499A-24D9CCEF7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87E976-1069-2996-29CE-45BF7AE90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9E94742-6694-6D3F-00BE-C16841F70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C21BBC-5763-96DC-85C3-973BDC9F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BAFFCD-98EE-D87A-CAA4-1C13FB85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B0EC52F-3AD6-A1F2-4414-81C7BC1F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53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11FCA-C04A-5326-A3A1-703A65CB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F9E2EE-7FD9-5E90-4FEE-4F625EA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0521EF-3C21-DEA1-371E-2E680E2A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5A4506-7431-0CD3-642C-12BE7657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93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876A31-5AA9-D109-5F38-A147CF65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C4BB19-2378-C4CF-6236-56C3D94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5D4A45-FE46-C073-4627-645E3859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00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E8F96-DC49-9053-5C1E-8AE19877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43CE7B-2EDD-B826-9ECB-0291912FC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A9D468-8E4E-5B3D-0083-09D37BBE5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57FE8B-646E-32CE-D5FD-32B07061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B85BC1-26F0-0183-30C3-961477A1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4967A5-00F8-33BF-84DD-2DD36FFE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06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605444-E8D9-1162-7A10-CDE408C2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D608BCE-4D12-AC4C-FB5C-88E0C44D6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15B03B-4738-6806-718A-DC39DDB8D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ADFD0C-09D3-F555-6515-6061836F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29D430-474D-20EE-D681-A386EFCE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47C7AF-6553-3C26-BB9B-A288F669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49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099C0-A8F7-0C2C-2A86-BC160910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42E26F-F7DA-70F0-1DFF-2349F142E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9700D9-DFD1-789A-28FB-AE0BB5BB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212087-DB60-C45A-EB95-DC26FBEA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73063-B16B-B28B-18FD-C3D5C49E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87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C73CCA-AEE8-7442-94D4-50956D221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FDCE99-36DE-539F-BF8E-F1CB281DD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038516-BAE7-E892-4D12-A78CEDAC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747126-F318-5F70-EA21-CAEDE6CC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C3A70C-3802-93C8-2828-A935E61F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8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569868-7C0B-8502-B634-BEE028DC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F7D2E7-AEE5-1C3C-EBAF-D401D14F3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79BF72-DE29-9A22-491E-32CACF873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4A7BF-69BB-4542-96D9-834A7CE64C27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BC2A2C-C65D-8323-0D28-804B434B0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9D4BBD-B04C-F3C6-44E6-05FD25A7B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A96D6-E43B-42B9-B6DA-D110DCE4E8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475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xbarnikol/ai-dev-workshop" TargetMode="External"/><Relationship Id="rId2" Type="http://schemas.openxmlformats.org/officeDocument/2006/relationships/hyperlink" Target="https://codeium.com/windsur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1ABDC34-B898-365F-5C6B-72D2B2915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t="14039" b="1403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B8A3A5-B570-9DBC-3B49-4C4AFE507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de-DE" sz="4800">
                <a:solidFill>
                  <a:schemeClr val="bg1"/>
                </a:solidFill>
              </a:rPr>
              <a:t>Hands on: Windsurf IDE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F09277-2596-5025-5420-475E5DD09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de-DE" sz="2000">
                <a:solidFill>
                  <a:schemeClr val="bg1"/>
                </a:solidFill>
              </a:rPr>
              <a:t>Software Development with Coding Agents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8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63A4B-03CC-63E0-CD3E-2C6D833C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E78F8E-98B9-8F48-7801-4F86315A3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8899" cy="4351338"/>
          </a:xfrm>
        </p:spPr>
        <p:txBody>
          <a:bodyPr>
            <a:normAutofit fontScale="92500" lnSpcReduction="20000"/>
          </a:bodyPr>
          <a:lstStyle/>
          <a:p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Coding </a:t>
            </a:r>
            <a:r>
              <a:rPr lang="de-DE" dirty="0" err="1"/>
              <a:t>Agents</a:t>
            </a:r>
            <a:endParaRPr lang="de-DE" dirty="0"/>
          </a:p>
          <a:p>
            <a:r>
              <a:rPr lang="de-DE" dirty="0" err="1"/>
              <a:t>Collect</a:t>
            </a:r>
            <a:r>
              <a:rPr lang="de-DE" dirty="0"/>
              <a:t> </a:t>
            </a:r>
            <a:r>
              <a:rPr lang="de-DE" dirty="0" err="1"/>
              <a:t>experiences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a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 err="1"/>
              <a:t>Motivate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yourself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en-US" i="1" dirty="0"/>
              <a:t>From now on, coding without AI will increasingly feel like writing in assembly instead of C#—slow, inefficient, and outdated for most use cases.</a:t>
            </a:r>
            <a:endParaRPr lang="de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CE2473-FCC5-11D0-F105-C2A5A3B00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66730"/>
            <a:ext cx="5441227" cy="321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9E85D4B-4816-F659-C079-5F5AE41F78F1}"/>
              </a:ext>
            </a:extLst>
          </p:cNvPr>
          <p:cNvSpPr txBox="1"/>
          <p:nvPr/>
        </p:nvSpPr>
        <p:spPr>
          <a:xfrm>
            <a:off x="6214902" y="5359178"/>
            <a:ext cx="48397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https://newsletter.pragmaticengineer.com/p/the-pulse-119?utm_source=substack&amp;utm_medium=email</a:t>
            </a:r>
          </a:p>
        </p:txBody>
      </p:sp>
    </p:spTree>
    <p:extLst>
      <p:ext uri="{BB962C8B-B14F-4D97-AF65-F5344CB8AC3E}">
        <p14:creationId xmlns:p14="http://schemas.microsoft.com/office/powerpoint/2010/main" val="399791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4D4C0-3F79-3F71-3F1F-A5DFBDE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Workshop 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5232F7-0D1A-AD05-C2CC-A9EE5BE6C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Short </a:t>
            </a:r>
            <a:r>
              <a:rPr lang="de-DE" dirty="0" err="1"/>
              <a:t>tutorial</a:t>
            </a:r>
            <a:r>
              <a:rPr lang="de-DE" dirty="0"/>
              <a:t> „</a:t>
            </a:r>
            <a:r>
              <a:rPr lang="de-DE" dirty="0" err="1"/>
              <a:t>Windsurf</a:t>
            </a:r>
            <a:r>
              <a:rPr lang="de-DE" dirty="0"/>
              <a:t> Editor“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Setup </a:t>
            </a:r>
            <a:r>
              <a:rPr lang="de-DE" dirty="0" err="1"/>
              <a:t>Windsurf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Create a simple </a:t>
            </a:r>
            <a:r>
              <a:rPr lang="de-DE" dirty="0" err="1"/>
              <a:t>Pokédex</a:t>
            </a:r>
            <a:r>
              <a:rPr lang="de-DE" dirty="0"/>
              <a:t> App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Optional: Create a </a:t>
            </a:r>
            <a:r>
              <a:rPr lang="de-DE" dirty="0" err="1"/>
              <a:t>Coffe</a:t>
            </a:r>
            <a:r>
              <a:rPr lang="de-DE" dirty="0"/>
              <a:t> Recipe Parameter Editor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Exchange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6666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8FA00-A413-AEB7-AF6B-0D931CE7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Warning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452DC-9379-781C-3908-4984778EF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774" y="1825625"/>
            <a:ext cx="7398026" cy="4351338"/>
          </a:xfrm>
        </p:spPr>
        <p:txBody>
          <a:bodyPr/>
          <a:lstStyle/>
          <a:p>
            <a:r>
              <a:rPr lang="de-DE" dirty="0" err="1"/>
              <a:t>Windsurf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upload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an </a:t>
            </a:r>
            <a:r>
              <a:rPr lang="de-DE" dirty="0" err="1"/>
              <a:t>opened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different </a:t>
            </a:r>
            <a:r>
              <a:rPr lang="de-DE" dirty="0" err="1"/>
              <a:t>servers</a:t>
            </a:r>
            <a:r>
              <a:rPr lang="de-DE" dirty="0"/>
              <a:t>. </a:t>
            </a:r>
            <a:r>
              <a:rPr lang="de-DE" b="1" dirty="0">
                <a:highlight>
                  <a:srgbClr val="FFFF00"/>
                </a:highlight>
              </a:rPr>
              <a:t>DO NOT open </a:t>
            </a:r>
            <a:r>
              <a:rPr lang="de-DE" b="1" dirty="0" err="1">
                <a:highlight>
                  <a:srgbClr val="FFFF00"/>
                </a:highlight>
              </a:rPr>
              <a:t>any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folders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or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documents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that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are</a:t>
            </a:r>
            <a:r>
              <a:rPr lang="de-DE" b="1" dirty="0">
                <a:highlight>
                  <a:srgbClr val="FFFF00"/>
                </a:highlight>
              </a:rPr>
              <a:t> not </a:t>
            </a:r>
            <a:r>
              <a:rPr lang="de-DE" b="1" dirty="0" err="1">
                <a:highlight>
                  <a:srgbClr val="FFFF00"/>
                </a:highlight>
              </a:rPr>
              <a:t>public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within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the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Windsurf</a:t>
            </a:r>
            <a:r>
              <a:rPr lang="de-DE" b="1" dirty="0">
                <a:highlight>
                  <a:srgbClr val="FFFF00"/>
                </a:highlight>
              </a:rPr>
              <a:t> Editor</a:t>
            </a:r>
            <a:r>
              <a:rPr lang="de-DE" dirty="0">
                <a:highlight>
                  <a:srgbClr val="FFFF00"/>
                </a:highlight>
              </a:rPr>
              <a:t>.</a:t>
            </a:r>
          </a:p>
          <a:p>
            <a:r>
              <a:rPr lang="de-DE" dirty="0" err="1"/>
              <a:t>Windsurf</a:t>
            </a:r>
            <a:r>
              <a:rPr lang="de-DE" dirty="0"/>
              <a:t> Cascade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suggest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execute</a:t>
            </a:r>
            <a:r>
              <a:rPr lang="de-DE" dirty="0"/>
              <a:t> code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libraries</a:t>
            </a:r>
            <a:r>
              <a:rPr lang="de-DE" dirty="0"/>
              <a:t>. </a:t>
            </a:r>
            <a:r>
              <a:rPr lang="de-DE" b="1" dirty="0">
                <a:highlight>
                  <a:srgbClr val="FFFF00"/>
                </a:highlight>
              </a:rPr>
              <a:t>Always check </a:t>
            </a:r>
            <a:r>
              <a:rPr lang="de-DE" b="1" dirty="0" err="1">
                <a:highlight>
                  <a:srgbClr val="FFFF00"/>
                </a:highlight>
              </a:rPr>
              <a:t>the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proposed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command</a:t>
            </a:r>
            <a:r>
              <a:rPr lang="de-DE" b="1" dirty="0">
                <a:highlight>
                  <a:srgbClr val="FFFF00"/>
                </a:highlight>
              </a:rPr>
              <a:t> and </a:t>
            </a:r>
            <a:r>
              <a:rPr lang="de-DE" b="1" dirty="0" err="1">
                <a:highlight>
                  <a:srgbClr val="FFFF00"/>
                </a:highlight>
              </a:rPr>
              <a:t>only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execute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if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it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is</a:t>
            </a:r>
            <a:r>
              <a:rPr lang="de-DE" b="1" dirty="0">
                <a:highlight>
                  <a:srgbClr val="FFFF00"/>
                </a:highlight>
              </a:rPr>
              <a:t> save </a:t>
            </a:r>
            <a:r>
              <a:rPr lang="de-DE" b="1" dirty="0" err="1">
                <a:highlight>
                  <a:srgbClr val="FFFF00"/>
                </a:highlight>
              </a:rPr>
              <a:t>to</a:t>
            </a:r>
            <a:r>
              <a:rPr lang="de-DE" b="1" dirty="0">
                <a:highlight>
                  <a:srgbClr val="FFFF00"/>
                </a:highlight>
              </a:rPr>
              <a:t> </a:t>
            </a:r>
            <a:r>
              <a:rPr lang="de-DE" b="1" dirty="0" err="1">
                <a:highlight>
                  <a:srgbClr val="FFFF00"/>
                </a:highlight>
              </a:rPr>
              <a:t>run</a:t>
            </a:r>
            <a:r>
              <a:rPr lang="de-DE" dirty="0">
                <a:highlight>
                  <a:srgbClr val="FFFF00"/>
                </a:highlight>
              </a:rPr>
              <a:t>.</a:t>
            </a:r>
          </a:p>
          <a:p>
            <a:endParaRPr lang="de-D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de-DE" dirty="0"/>
              <a:t>Any </a:t>
            </a:r>
            <a:r>
              <a:rPr lang="de-DE" dirty="0" err="1"/>
              <a:t>questions</a:t>
            </a:r>
            <a:r>
              <a:rPr lang="de-DE" dirty="0"/>
              <a:t> ?</a:t>
            </a:r>
          </a:p>
          <a:p>
            <a:endParaRPr lang="de-DE" dirty="0"/>
          </a:p>
        </p:txBody>
      </p:sp>
      <p:pic>
        <p:nvPicPr>
          <p:cNvPr id="5" name="Grafik 4" descr="Warnung mit einfarbiger Füllung">
            <a:extLst>
              <a:ext uri="{FF2B5EF4-FFF2-40B4-BE49-F238E27FC236}">
                <a16:creationId xmlns:a16="http://schemas.microsoft.com/office/drawing/2014/main" id="{10556861-EA61-2170-7120-9AB56C92E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086" y="1832805"/>
            <a:ext cx="3192389" cy="319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9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23145-AC5E-41F6-4E7F-4995BBAD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Windsurf</a:t>
            </a:r>
            <a:r>
              <a:rPr lang="de-DE" dirty="0"/>
              <a:t> Tutorial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50555A-24B3-3A12-D41F-B6C584B41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5720" cy="4351338"/>
          </a:xfrm>
        </p:spPr>
        <p:txBody>
          <a:bodyPr/>
          <a:lstStyle/>
          <a:p>
            <a:r>
              <a:rPr lang="de-DE" dirty="0"/>
              <a:t>Features:</a:t>
            </a:r>
          </a:p>
          <a:p>
            <a:pPr lvl="1"/>
            <a:r>
              <a:rPr lang="de-DE" dirty="0" err="1"/>
              <a:t>Supercomplete</a:t>
            </a:r>
            <a:endParaRPr lang="de-DE" dirty="0"/>
          </a:p>
          <a:p>
            <a:pPr lvl="1"/>
            <a:r>
              <a:rPr lang="de-DE" dirty="0"/>
              <a:t>Cascade (LLM </a:t>
            </a:r>
            <a:r>
              <a:rPr lang="de-DE" dirty="0" err="1"/>
              <a:t>selection</a:t>
            </a:r>
            <a:r>
              <a:rPr lang="de-DE" dirty="0"/>
              <a:t>,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modes</a:t>
            </a:r>
            <a:r>
              <a:rPr lang="de-DE" dirty="0"/>
              <a:t>)</a:t>
            </a:r>
          </a:p>
          <a:p>
            <a:r>
              <a:rPr lang="de-DE" dirty="0"/>
              <a:t>Best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Cascade: Claude 3.5 Sonnet</a:t>
            </a:r>
          </a:p>
          <a:p>
            <a:r>
              <a:rPr lang="de-DE" dirty="0"/>
              <a:t>Works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Python &amp; Web Stack</a:t>
            </a:r>
          </a:p>
          <a:p>
            <a:pPr lvl="1"/>
            <a:r>
              <a:rPr lang="de-DE" dirty="0"/>
              <a:t>Use Visual Studio </a:t>
            </a:r>
            <a:r>
              <a:rPr lang="de-DE" dirty="0" err="1"/>
              <a:t>or</a:t>
            </a:r>
            <a:r>
              <a:rPr lang="de-DE" dirty="0"/>
              <a:t> Rider </a:t>
            </a:r>
            <a:r>
              <a:rPr lang="de-DE" dirty="0" err="1"/>
              <a:t>for</a:t>
            </a:r>
            <a:r>
              <a:rPr lang="de-DE" dirty="0"/>
              <a:t> .Net Debugging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63FE8CE-3040-7B21-149D-1114BB52068A}"/>
              </a:ext>
            </a:extLst>
          </p:cNvPr>
          <p:cNvSpPr/>
          <p:nvPr/>
        </p:nvSpPr>
        <p:spPr>
          <a:xfrm>
            <a:off x="6228080" y="3345340"/>
            <a:ext cx="5125720" cy="22517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Segoe WPC"/>
              </a:rPr>
              <a:t>Me</a:t>
            </a:r>
          </a:p>
          <a:p>
            <a:pPr algn="l" rtl="0"/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Nice, now we want to create a small app that tracks my bowling performance.</a:t>
            </a:r>
            <a:br>
              <a:rPr lang="en-US" b="0" i="0" dirty="0">
                <a:solidFill>
                  <a:srgbClr val="CCCCCC"/>
                </a:solidFill>
                <a:effectLst/>
                <a:latin typeface="Segoe WPC"/>
              </a:rPr>
            </a:b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- It shows all my rolls in a list</a:t>
            </a:r>
            <a:br>
              <a:rPr lang="en-US" b="0" i="0" dirty="0">
                <a:solidFill>
                  <a:srgbClr val="CCCCCC"/>
                </a:solidFill>
                <a:effectLst/>
                <a:latin typeface="Segoe WPC"/>
              </a:rPr>
            </a:b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- It shows buttons 0-9 to add a roll to the list </a:t>
            </a:r>
            <a:br>
              <a:rPr lang="en-US" b="0" i="0" dirty="0">
                <a:solidFill>
                  <a:srgbClr val="CCCCCC"/>
                </a:solidFill>
                <a:effectLst/>
                <a:latin typeface="Segoe WPC"/>
              </a:rPr>
            </a:b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- It shows in larger font size the mean and standard deviation of my rolls</a:t>
            </a:r>
          </a:p>
          <a:p>
            <a:pPr algn="ctr"/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69EE562-BB97-AB2A-BD69-7CEA66C590C5}"/>
              </a:ext>
            </a:extLst>
          </p:cNvPr>
          <p:cNvSpPr/>
          <p:nvPr/>
        </p:nvSpPr>
        <p:spPr>
          <a:xfrm>
            <a:off x="6228082" y="1422400"/>
            <a:ext cx="5125720" cy="964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Segoe WPC"/>
              </a:rPr>
              <a:t>Me</a:t>
            </a: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Please create a new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Segoe WPC"/>
              </a:rPr>
              <a:t>.net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 6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Segoe WPC"/>
              </a:rPr>
              <a:t>wpf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 app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C139311-F771-3007-3D2D-1BB5BF761381}"/>
              </a:ext>
            </a:extLst>
          </p:cNvPr>
          <p:cNvSpPr/>
          <p:nvPr/>
        </p:nvSpPr>
        <p:spPr>
          <a:xfrm>
            <a:off x="6766560" y="2465648"/>
            <a:ext cx="5125720" cy="79001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Segoe WPC"/>
              </a:rPr>
              <a:t>Cascade</a:t>
            </a: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I'll help you create a new .NET 6 WPF …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F2AFEAD-CEEF-0954-FBD1-C6DEBAF9D4DF}"/>
              </a:ext>
            </a:extLst>
          </p:cNvPr>
          <p:cNvSpPr/>
          <p:nvPr/>
        </p:nvSpPr>
        <p:spPr>
          <a:xfrm>
            <a:off x="6766560" y="5666048"/>
            <a:ext cx="5125720" cy="79001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Segoe WPC"/>
              </a:rPr>
              <a:t>Cascade</a:t>
            </a: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I'll help you create a new .NET 6 WPF …</a:t>
            </a:r>
          </a:p>
        </p:txBody>
      </p:sp>
    </p:spTree>
    <p:extLst>
      <p:ext uri="{BB962C8B-B14F-4D97-AF65-F5344CB8AC3E}">
        <p14:creationId xmlns:p14="http://schemas.microsoft.com/office/powerpoint/2010/main" val="45786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369CF-FB95-F8A0-B373-EF7A4780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Windsurf</a:t>
            </a:r>
            <a:r>
              <a:rPr lang="de-DE" dirty="0"/>
              <a:t> IDE Setup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C256EB-398F-F123-3184-250FF82C2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windsurf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https://codeium.com/windsurf</a:t>
            </a:r>
            <a:r>
              <a:rPr lang="de-D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Create a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account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Clone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https://github.com/maxbarnikol/ai-dev-workshop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Open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/>
              <a:t>ai-</a:t>
            </a:r>
            <a:r>
              <a:rPr lang="de-DE" i="1" dirty="0" err="1"/>
              <a:t>dev</a:t>
            </a:r>
            <a:r>
              <a:rPr lang="de-DE" i="1" dirty="0"/>
              <a:t>-workshop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in </a:t>
            </a:r>
            <a:r>
              <a:rPr lang="de-DE" dirty="0" err="1"/>
              <a:t>Windsurf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994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85121F-C036-3E07-1775-59772160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Excercises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49F387-255B-7794-C170-83EACC12C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Switch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branch</a:t>
            </a:r>
            <a:r>
              <a:rPr lang="de-DE" dirty="0"/>
              <a:t> ‘ </a:t>
            </a:r>
            <a:r>
              <a:rPr lang="de-DE" i="1" dirty="0" err="1"/>
              <a:t>pokedex</a:t>
            </a:r>
            <a:r>
              <a:rPr lang="de-DE" dirty="0"/>
              <a:t>‘</a:t>
            </a:r>
          </a:p>
          <a:p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/>
              <a:t>Data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find </a:t>
            </a:r>
            <a:r>
              <a:rPr lang="de-DE" dirty="0" err="1"/>
              <a:t>json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containing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151 </a:t>
            </a:r>
            <a:r>
              <a:rPr lang="de-DE" dirty="0" err="1"/>
              <a:t>Pokemon</a:t>
            </a:r>
            <a:endParaRPr lang="de-DE" dirty="0"/>
          </a:p>
          <a:p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Apps </a:t>
            </a:r>
            <a:r>
              <a:rPr lang="de-DE" dirty="0" err="1"/>
              <a:t>described</a:t>
            </a:r>
            <a:r>
              <a:rPr lang="de-DE" dirty="0"/>
              <a:t> in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  <a:p>
            <a:pPr lvl="1"/>
            <a:r>
              <a:rPr lang="de-DE" dirty="0"/>
              <a:t>Try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Cascade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things</a:t>
            </a:r>
            <a:endParaRPr lang="de-DE" dirty="0"/>
          </a:p>
          <a:p>
            <a:pPr lvl="1"/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write</a:t>
            </a:r>
            <a:r>
              <a:rPr lang="de-DE" dirty="0"/>
              <a:t> code and </a:t>
            </a:r>
            <a:r>
              <a:rPr lang="de-DE" dirty="0" err="1"/>
              <a:t>experience</a:t>
            </a:r>
            <a:r>
              <a:rPr lang="de-DE" dirty="0"/>
              <a:t> </a:t>
            </a:r>
            <a:r>
              <a:rPr lang="de-DE" dirty="0" err="1"/>
              <a:t>Supercomplete</a:t>
            </a:r>
            <a:endParaRPr lang="de-DE" dirty="0"/>
          </a:p>
          <a:p>
            <a:pPr lvl="1"/>
            <a:r>
              <a:rPr lang="de-DE" dirty="0" err="1"/>
              <a:t>Hint</a:t>
            </a:r>
            <a:r>
              <a:rPr lang="de-DE" dirty="0"/>
              <a:t>: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implemt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writing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56552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9622A-7A00-6F0B-F103-5F372DE8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 1: Create a simple </a:t>
            </a:r>
            <a:r>
              <a:rPr lang="de-DE" b="1" dirty="0" err="1"/>
              <a:t>Pokedex</a:t>
            </a:r>
            <a:r>
              <a:rPr lang="de-DE" b="1" dirty="0"/>
              <a:t> </a:t>
            </a:r>
            <a:r>
              <a:rPr lang="de-DE" dirty="0" err="1"/>
              <a:t>console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C4E9C-4262-1F87-D75F-ADC300186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21650" cy="4351338"/>
          </a:xfrm>
        </p:spPr>
        <p:txBody>
          <a:bodyPr>
            <a:normAutofit/>
          </a:bodyPr>
          <a:lstStyle/>
          <a:p>
            <a:r>
              <a:rPr lang="de-DE" dirty="0"/>
              <a:t>Display </a:t>
            </a:r>
            <a:r>
              <a:rPr lang="de-DE" i="1" dirty="0" err="1"/>
              <a:t>id</a:t>
            </a:r>
            <a:r>
              <a:rPr lang="de-DE" dirty="0"/>
              <a:t>, </a:t>
            </a:r>
            <a:r>
              <a:rPr lang="de-DE" i="1" dirty="0" err="1"/>
              <a:t>name</a:t>
            </a:r>
            <a:r>
              <a:rPr lang="de-DE" dirty="0"/>
              <a:t> and </a:t>
            </a:r>
            <a:r>
              <a:rPr lang="de-DE" i="1" dirty="0" err="1"/>
              <a:t>flavor</a:t>
            </a:r>
            <a:r>
              <a:rPr lang="de-DE" i="1" dirty="0"/>
              <a:t> </a:t>
            </a:r>
            <a:r>
              <a:rPr lang="de-DE" i="1" dirty="0" err="1"/>
              <a:t>text</a:t>
            </a:r>
            <a:endParaRPr lang="de-DE" i="1" dirty="0"/>
          </a:p>
          <a:p>
            <a:r>
              <a:rPr lang="de-DE" dirty="0" err="1"/>
              <a:t>Left</a:t>
            </a:r>
            <a:r>
              <a:rPr lang="de-DE" dirty="0"/>
              <a:t>/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arrow</a:t>
            </a:r>
            <a:r>
              <a:rPr lang="de-DE" dirty="0"/>
              <a:t> </a:t>
            </a:r>
            <a:r>
              <a:rPr lang="de-DE" dirty="0" err="1"/>
              <a:t>keys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switch </a:t>
            </a:r>
            <a:r>
              <a:rPr lang="de-DE" dirty="0" err="1"/>
              <a:t>pokemon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lvl="1"/>
            <a:endParaRPr lang="de-DE" dirty="0"/>
          </a:p>
        </p:txBody>
      </p:sp>
      <p:pic>
        <p:nvPicPr>
          <p:cNvPr id="1026" name="Picture 2" descr="Ash Ketchum - Bulbapedia, the community-driven Pokémon encyclopedia |  Pokemon, Pokemon poster, Cute pokemon wallpaper">
            <a:extLst>
              <a:ext uri="{FF2B5EF4-FFF2-40B4-BE49-F238E27FC236}">
                <a16:creationId xmlns:a16="http://schemas.microsoft.com/office/drawing/2014/main" id="{C12046BC-DCFB-0EFE-6274-86D33E2A3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06" y="2125979"/>
            <a:ext cx="2340518" cy="443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008F142-767C-7747-9EE0-E28B9F063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44" y="3166128"/>
            <a:ext cx="6232106" cy="167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0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9622A-7A00-6F0B-F103-5F372DE8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 2: </a:t>
            </a:r>
            <a:r>
              <a:rPr lang="de-DE" dirty="0" err="1"/>
              <a:t>Pokedex</a:t>
            </a:r>
            <a:r>
              <a:rPr lang="de-DE" dirty="0"/>
              <a:t> WPF App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C4E9C-4262-1F87-D75F-ADC30018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Build</a:t>
            </a:r>
            <a:r>
              <a:rPr lang="de-DE" dirty="0"/>
              <a:t> a simple </a:t>
            </a:r>
            <a:r>
              <a:rPr lang="de-DE" b="1" dirty="0" err="1"/>
              <a:t>Pokedex</a:t>
            </a:r>
            <a:r>
              <a:rPr lang="de-DE" b="1" dirty="0"/>
              <a:t> </a:t>
            </a:r>
            <a:r>
              <a:rPr lang="de-DE" dirty="0"/>
              <a:t>WPF UI</a:t>
            </a:r>
          </a:p>
          <a:p>
            <a:pPr lvl="1"/>
            <a:r>
              <a:rPr lang="de-DE" dirty="0"/>
              <a:t>Image links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contained</a:t>
            </a:r>
            <a:r>
              <a:rPr lang="de-DE" dirty="0"/>
              <a:t> in JSON </a:t>
            </a:r>
            <a:r>
              <a:rPr lang="de-DE" dirty="0" err="1"/>
              <a:t>data</a:t>
            </a:r>
            <a:endParaRPr lang="de-DE" dirty="0"/>
          </a:p>
          <a:p>
            <a:pPr lvl="1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7316F4-D62D-D6E7-7910-1075B488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73" y="2979462"/>
            <a:ext cx="5912632" cy="3332438"/>
          </a:xfrm>
          <a:prstGeom prst="rect">
            <a:avLst/>
          </a:prstGeom>
        </p:spPr>
      </p:pic>
      <p:pic>
        <p:nvPicPr>
          <p:cNvPr id="6" name="Picture 2" descr="Ash Ketchum - Bulbapedia, the community-driven Pokémon encyclopedia |  Pokemon, Pokemon poster, Cute pokemon wallpaper">
            <a:extLst>
              <a:ext uri="{FF2B5EF4-FFF2-40B4-BE49-F238E27FC236}">
                <a16:creationId xmlns:a16="http://schemas.microsoft.com/office/drawing/2014/main" id="{0FFBB57A-FDA4-68AB-E670-3F89C9173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06" y="2125979"/>
            <a:ext cx="2340518" cy="443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29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9622A-7A00-6F0B-F103-5F372DE8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 2: </a:t>
            </a:r>
            <a:r>
              <a:rPr lang="de-DE" dirty="0" err="1"/>
              <a:t>Pokedex</a:t>
            </a:r>
            <a:r>
              <a:rPr lang="de-DE" dirty="0"/>
              <a:t> WPF App </a:t>
            </a:r>
            <a:r>
              <a:rPr lang="de-DE" dirty="0" err="1"/>
              <a:t>bonus</a:t>
            </a:r>
            <a:r>
              <a:rPr lang="de-DE" dirty="0"/>
              <a:t>🏆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C4E9C-4262-1F87-D75F-ADC30018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UI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pokedex</a:t>
            </a:r>
            <a:endParaRPr lang="de-DE" dirty="0"/>
          </a:p>
          <a:p>
            <a:pPr lvl="1"/>
            <a:r>
              <a:rPr lang="de-DE" dirty="0"/>
              <a:t>More </a:t>
            </a:r>
            <a:r>
              <a:rPr lang="de-DE" dirty="0" err="1"/>
              <a:t>beautiful</a:t>
            </a:r>
            <a:r>
              <a:rPr lang="de-DE" dirty="0"/>
              <a:t> </a:t>
            </a:r>
            <a:r>
              <a:rPr lang="de-DE" dirty="0" err="1"/>
              <a:t>colors</a:t>
            </a:r>
            <a:endParaRPr lang="de-DE" dirty="0"/>
          </a:p>
          <a:p>
            <a:pPr lvl="1"/>
            <a:r>
              <a:rPr lang="de-DE" dirty="0"/>
              <a:t>Change </a:t>
            </a:r>
            <a:r>
              <a:rPr lang="de-DE" dirty="0" err="1"/>
              <a:t>layout</a:t>
            </a:r>
            <a:endParaRPr lang="de-DE" dirty="0"/>
          </a:p>
          <a:p>
            <a:pPr lvl="1"/>
            <a:r>
              <a:rPr lang="de-DE" dirty="0"/>
              <a:t>Remove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border</a:t>
            </a:r>
            <a:endParaRPr lang="de-DE" dirty="0"/>
          </a:p>
          <a:p>
            <a:pPr lvl="1"/>
            <a:endParaRPr lang="de-DE" dirty="0"/>
          </a:p>
        </p:txBody>
      </p:sp>
      <p:pic>
        <p:nvPicPr>
          <p:cNvPr id="6" name="Picture 2" descr="Ash Ketchum - Bulbapedia, the community-driven Pokémon encyclopedia |  Pokemon, Pokemon poster, Cute pokemon wallpaper">
            <a:extLst>
              <a:ext uri="{FF2B5EF4-FFF2-40B4-BE49-F238E27FC236}">
                <a16:creationId xmlns:a16="http://schemas.microsoft.com/office/drawing/2014/main" id="{0FFBB57A-FDA4-68AB-E670-3F89C9173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06" y="2125979"/>
            <a:ext cx="2340518" cy="443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603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18352-50DD-1514-A922-7518C04F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A3B985-0F6B-B173-86D2-DD49CBA72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feel</a:t>
            </a:r>
            <a:r>
              <a:rPr lang="de-DE" dirty="0"/>
              <a:t>?</a:t>
            </a:r>
          </a:p>
          <a:p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?</a:t>
            </a:r>
          </a:p>
          <a:p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difficulties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30096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9485B-B19A-53CA-7084-8A42E269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Uninstall</a:t>
            </a:r>
            <a:r>
              <a:rPr lang="de-DE" dirty="0"/>
              <a:t> </a:t>
            </a:r>
            <a:r>
              <a:rPr lang="de-DE" dirty="0" err="1"/>
              <a:t>Windsurf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8CD0B-954F-0428-F753-8D1930BAA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prevent</a:t>
            </a:r>
            <a:r>
              <a:rPr lang="de-DE" dirty="0"/>
              <a:t> </a:t>
            </a:r>
            <a:r>
              <a:rPr lang="de-DE" dirty="0" err="1"/>
              <a:t>accidential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leak </a:t>
            </a:r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uninstall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Windsurf</a:t>
            </a:r>
            <a:r>
              <a:rPr lang="de-DE" dirty="0"/>
              <a:t> IDE</a:t>
            </a:r>
          </a:p>
        </p:txBody>
      </p:sp>
    </p:spTree>
    <p:extLst>
      <p:ext uri="{BB962C8B-B14F-4D97-AF65-F5344CB8AC3E}">
        <p14:creationId xmlns:p14="http://schemas.microsoft.com/office/powerpoint/2010/main" val="216251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Breitbild</PresentationFormat>
  <Paragraphs>68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Segoe WPC</vt:lpstr>
      <vt:lpstr>Office</vt:lpstr>
      <vt:lpstr>Hands on: Windsurf IDE</vt:lpstr>
      <vt:lpstr>Motivation</vt:lpstr>
      <vt:lpstr>Workshop overview</vt:lpstr>
      <vt:lpstr>Important Warning</vt:lpstr>
      <vt:lpstr>Windsurf Tutorial</vt:lpstr>
      <vt:lpstr>Windsurf IDE Setup</vt:lpstr>
      <vt:lpstr>Excercises</vt:lpstr>
      <vt:lpstr>Ex 1: Create a simple Pokedex console app</vt:lpstr>
      <vt:lpstr>Ex 2: Pokedex WPF App</vt:lpstr>
      <vt:lpstr>Ex 2: Pokedex WPF App bonus🏆</vt:lpstr>
      <vt:lpstr>How did it go?</vt:lpstr>
      <vt:lpstr>Uninstall Windsurf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Barnikol, Maximilian</dc:creator>
  <cp:lastModifiedBy>Barnikol, Maximilian</cp:lastModifiedBy>
  <cp:revision>7</cp:revision>
  <dcterms:created xsi:type="dcterms:W3CDTF">2025-01-29T19:51:58Z</dcterms:created>
  <dcterms:modified xsi:type="dcterms:W3CDTF">2025-01-30T07:09:16Z</dcterms:modified>
</cp:coreProperties>
</file>